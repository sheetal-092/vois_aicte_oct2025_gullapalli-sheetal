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1" r:id="rId12"/>
    <p:sldId id="345" r:id="rId13"/>
    <p:sldId id="346" r:id="rId14"/>
    <p:sldId id="347" r:id="rId15"/>
    <p:sldId id="348" r:id="rId16"/>
    <p:sldId id="349" r:id="rId17"/>
    <p:sldId id="344"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107" d="100"/>
          <a:sy n="107" d="100"/>
        </p:scale>
        <p:origin x="80" y="13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9/27/2025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7T04:03:50.659"/>
    </inkml:context>
    <inkml:brush xml:id="br0">
      <inkml:brushProperty name="width" value="0.35" units="cm"/>
      <inkml:brushProperty name="height" value="0.35" units="cm"/>
      <inkml:brushProperty name="color" value="#FF0066"/>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7T04:04:01.715"/>
    </inkml:context>
    <inkml:brush xml:id="br0">
      <inkml:brushProperty name="width" value="0.35" units="cm"/>
      <inkml:brushProperty name="height" value="0.35" units="cm"/>
      <inkml:brushProperty name="color" value="#FFFFFF"/>
    </inkml:brush>
  </inkml:definitions>
  <inkml:trace contextRef="#ctx0" brushRef="#br0">234 54 24575,'13'-4'0,"0"0"0,1 1 0,-1 0 0,1 1 0,17 0 0,1 0 0,-25 1 0,302-27 0,-214 24 0,123 9 0,-156 4 0,0 3 0,114 37 0,-2 0 0,31 0 0,-168-42 0,0-3 0,0-1 0,75-3 0,-53-1 0,432 13 0,-382-8 0,-60-3 0,85 13 0,6 12 0,1-6 0,207 2 0,-289-22 0,259-11 0,98 2 0,-253 11 0,-91-4 0,73-13 0,-126 11 0,1-1 0,-1-1 0,0-1 0,30-14 0,-2 0 0,83-24 0,-157 52 0,-1-2 0,0-1 0,0-2 0,-31 0 0,17-3 0,0-1 0,-62-13 0,-102-31 0,-98-18 0,238 52 0,42 6 0,0 2 0,0 0 0,0 2 0,-1 0 0,-42 4 0,-945 90 0,770-59 0,43-3 0,53-15 0,-179 12 0,107-13 0,-213 4 0,-145-18 0,549 2 0,0 1 0,0 2 0,1 0 0,-31 11 0,6-2 0,4-2 0,-82 19 0,103-26 0,0-1 0,-52 0 0,74-4 0,0 0 0,0 0 0,0-1 0,1 0 0,-1 0 0,0 0 0,0 0 0,0 0 0,1-1 0,-1 1 0,-4-4 0,8 5 0,0 0 0,0 0 0,0-1 0,0 1 0,0 0 0,0 0 0,0-1 0,1 1 0,-1 0 0,0-1 0,0 1 0,0 0 0,0 0 0,0-1 0,0 1 0,1 0 0,-1 0 0,0 0 0,0-1 0,0 1 0,0 0 0,1 0 0,-1 0 0,0-1 0,0 1 0,1 0 0,-1 0 0,0 0 0,0 0 0,1 0 0,-1 0 0,0 0 0,0-1 0,1 1 0,-1 0 0,11-4 0,25-6 0,0 2 0,56-6 0,-57 9 0,56-7 0,111 1 0,179 3 0,-16 0 0,-305 7 0,11 0 0,106 13 0,-119-6 0,75-3 0,35 4 0,-126-2 0,0-3 0,0-1 0,0-2 0,63-9 0,-67 6-446,75 1-1,-103 3-25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9/27/2025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9/27/2025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xml"/><Relationship Id="rId1" Type="http://schemas.openxmlformats.org/officeDocument/2006/relationships/slideLayout" Target="../slideLayouts/slideLayout19.xml"/><Relationship Id="rId6" Type="http://schemas.openxmlformats.org/officeDocument/2006/relationships/hyperlink" Target="https://drive.google.com/file/d/1qLf6Vwb-UIyls3djKOF-A17cfKNKFqEe/view?usp=drive_link" TargetMode="External"/><Relationship Id="rId5" Type="http://schemas.openxmlformats.org/officeDocument/2006/relationships/image" Target="../media/image14.png"/><Relationship Id="rId4" Type="http://schemas.openxmlformats.org/officeDocument/2006/relationships/customXml" Target="../ink/ink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sheetal-092/VOIS_AICTE_Oct2025_GULLAPALLI-SHEETAL"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66897" y="3984173"/>
            <a:ext cx="9702141" cy="1132140"/>
          </a:xfrm>
        </p:spPr>
        <p:txBody>
          <a:bodyPr>
            <a:normAutofit/>
          </a:bodyPr>
          <a:lstStyle/>
          <a:p>
            <a:pPr algn="ctr"/>
            <a:r>
              <a:rPr lang="en-US" b="0" dirty="0">
                <a:solidFill>
                  <a:schemeClr val="tx1"/>
                </a:solidFill>
              </a:rPr>
              <a:t>[Student Name ] – GULLAPALLI SHEETAL </a:t>
            </a:r>
          </a:p>
          <a:p>
            <a:pPr algn="ctr"/>
            <a:r>
              <a:rPr lang="en-US" b="0" dirty="0">
                <a:solidFill>
                  <a:schemeClr val="tx1"/>
                </a:solidFill>
              </a:rPr>
              <a:t>[AICTE Internship ID] - </a:t>
            </a:r>
            <a:r>
              <a:rPr lang="en-IN" b="0" dirty="0"/>
              <a:t>STU681edf42b90491746853698</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674420" y="2794001"/>
            <a:ext cx="7743056" cy="743448"/>
          </a:xfrm>
        </p:spPr>
        <p:txBody>
          <a:bodyPr>
            <a:normAutofit fontScale="90000"/>
          </a:bodyPr>
          <a:lstStyle/>
          <a:p>
            <a:r>
              <a:rPr lang="en-GB" sz="3200" dirty="0"/>
              <a:t>Project Title -</a:t>
            </a:r>
            <a:r>
              <a:rPr lang="en-IN" sz="3200" dirty="0"/>
              <a:t> Airbnb Hotel Booking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64589" y="2102230"/>
            <a:ext cx="6431280" cy="3607987"/>
          </a:xfrm>
        </p:spPr>
        <p:txBody>
          <a:bodyPr>
            <a:normAutofit fontScale="47500" lnSpcReduction="20000"/>
          </a:bodyPr>
          <a:lstStyle/>
          <a:p>
            <a:r>
              <a:rPr lang="en-US" sz="2800" dirty="0"/>
              <a:t>The hospitality industry has undergone a significant transformation with the rise of online platforms facilitating short-term lodging and tourism. Leading this revolution is Airbnb, Inc., a pioneering American company that has reshaped travel accommodation through its innovative online marketplace. Established in 2008 in San Francisco, California, Airbnb provides a diverse range of lodging options, offering guests a unique and personalized experience. Unlike traditional hospitality providers, Airbnb operates on a commission-based model, facilitating transactions between hosts and guests without owning the properties listed on its platform.</a:t>
            </a:r>
          </a:p>
          <a:p>
            <a:r>
              <a:rPr lang="en-US" sz="2800" dirty="0"/>
              <a:t>This research analysis delves into the New York City Airbnb dataset to extract meaningful insights. Through rigorous data cleaning, exploratory analysis, and visualization techniques, the study aims to illuminate the dynamics of the city's lodging market. By discerning factors influencing listing availability, pricing strategies, and overall customer satisfaction, the research contributes to a deeper understanding of Airbnb's operations in one of the world’s most dynamic urban environments. These insights hold significance for stakeholders and enthusiasts seeking to navigate the evolving landscape of short-term accommodation.</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Autofit/>
          </a:bodyPr>
          <a:lstStyle/>
          <a:p>
            <a:r>
              <a:rPr lang="en-US" sz="2800" dirty="0"/>
              <a:t>PROBLEM  STATEMENT </a:t>
            </a:r>
            <a:r>
              <a:rPr lang="en-IN" sz="2800" dirty="0"/>
              <a:t>Airbnb Hotel Booking Analysis</a:t>
            </a:r>
            <a:br>
              <a:rPr lang="en-IN" sz="2800" dirty="0"/>
            </a:br>
            <a:br>
              <a:rPr lang="en-US" sz="2800" dirty="0"/>
            </a:br>
            <a:br>
              <a:rPr lang="en-US" sz="2800" dirty="0"/>
            </a:br>
            <a:br>
              <a:rPr lang="en-US" sz="2800" dirty="0"/>
            </a:br>
            <a:br>
              <a:rPr lang="en-US" sz="2800" dirty="0"/>
            </a:br>
            <a:br>
              <a:rPr lang="en-US" sz="2800" dirty="0"/>
            </a:br>
            <a:endParaRPr lang="en-IN" sz="28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2400" dirty="0"/>
              <a:t>Project Description</a:t>
            </a:r>
            <a:br>
              <a:rPr lang="en-GB" sz="2400"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2C7D70B5-F53C-2E97-5D3A-F7911DB1BCD0}"/>
              </a:ext>
            </a:extLst>
          </p:cNvPr>
          <p:cNvSpPr txBox="1"/>
          <p:nvPr/>
        </p:nvSpPr>
        <p:spPr>
          <a:xfrm>
            <a:off x="467359" y="1475221"/>
            <a:ext cx="8527420" cy="4893647"/>
          </a:xfrm>
          <a:prstGeom prst="rect">
            <a:avLst/>
          </a:prstGeom>
          <a:noFill/>
        </p:spPr>
        <p:txBody>
          <a:bodyPr wrap="square" rtlCol="0">
            <a:spAutoFit/>
          </a:bodyPr>
          <a:lstStyle/>
          <a:p>
            <a:r>
              <a:rPr lang="en-US" sz="1200" b="1" dirty="0"/>
              <a:t>Project Description: Airbnb Hotel Booking Analysis</a:t>
            </a:r>
          </a:p>
          <a:p>
            <a:r>
              <a:rPr lang="en-US" sz="1200" dirty="0"/>
              <a:t>This project focuses on a comprehensive analysis of New York City Airbnb data to uncover trends and insights in the short-term rental market. The primary objective is to understand how various factors—such as property type, location, pricing, host characteristics, and service fees—affect listing performance and customer experience.</a:t>
            </a:r>
          </a:p>
          <a:p>
            <a:r>
              <a:rPr lang="en-US" sz="1200" b="1" dirty="0"/>
              <a:t>Objectives</a:t>
            </a:r>
          </a:p>
          <a:p>
            <a:r>
              <a:rPr lang="en-US" sz="1200" b="1" dirty="0"/>
              <a:t>Market Landscape:</a:t>
            </a:r>
            <a:r>
              <a:rPr lang="en-US" sz="1200" dirty="0"/>
              <a:t> Identify the distribution of property types and neighborhood groups to understand supply patterns across the city.</a:t>
            </a:r>
          </a:p>
          <a:p>
            <a:r>
              <a:rPr lang="en-US" sz="1200" b="1" dirty="0"/>
              <a:t>Pricing Insights:</a:t>
            </a:r>
            <a:r>
              <a:rPr lang="en-US" sz="1200" dirty="0"/>
              <a:t> Examine price variations among neighborhoods, property types, and construction periods to reveal pricing strategies and potential revenue opportunities.</a:t>
            </a:r>
          </a:p>
          <a:p>
            <a:r>
              <a:rPr lang="en-US" sz="1200" b="1" dirty="0"/>
              <a:t>Host Performance:</a:t>
            </a:r>
            <a:r>
              <a:rPr lang="en-US" sz="1200" dirty="0"/>
              <a:t> Determine which hosts have the highest number of listings and assess how host verification influences guest reviews and ratings.</a:t>
            </a:r>
          </a:p>
          <a:p>
            <a:r>
              <a:rPr lang="en-US" sz="1200" b="1" dirty="0"/>
              <a:t>Cost Analysis:</a:t>
            </a:r>
            <a:r>
              <a:rPr lang="en-US" sz="1200" dirty="0"/>
              <a:t> Explore the relationship between listing price and service fee to evaluate how additional charges impact overall cost for guests.</a:t>
            </a:r>
          </a:p>
          <a:p>
            <a:r>
              <a:rPr lang="en-US" sz="1200" b="1" dirty="0"/>
              <a:t>Data &amp; Methodology</a:t>
            </a:r>
          </a:p>
          <a:p>
            <a:r>
              <a:rPr lang="en-US" sz="1200" b="1" dirty="0"/>
              <a:t>Dataset:</a:t>
            </a:r>
            <a:r>
              <a:rPr lang="en-US" sz="1200" dirty="0"/>
              <a:t> The project uses the publicly available Airbnb New York City dataset (Excel/CSV format) containing details such as property type, neighborhood, price, host information, reviews, and fees.</a:t>
            </a:r>
          </a:p>
          <a:p>
            <a:r>
              <a:rPr lang="en-US" sz="1200" b="1" dirty="0"/>
              <a:t>Data Cleaning:</a:t>
            </a:r>
            <a:r>
              <a:rPr lang="en-US" sz="1200" dirty="0"/>
              <a:t> Missing values and outliers are identified and treated to ensure accurate analysis.</a:t>
            </a:r>
          </a:p>
          <a:p>
            <a:r>
              <a:rPr lang="en-US" sz="1200" b="1" dirty="0"/>
              <a:t>Exploratory Data Analysis (EDA):</a:t>
            </a:r>
            <a:r>
              <a:rPr lang="en-US" sz="1200" dirty="0"/>
              <a:t> Statistical summaries and visualizations (bar charts, pie charts, scatter plots, and correlation matrices) are employed to identify patterns and relationships.</a:t>
            </a:r>
          </a:p>
          <a:p>
            <a:r>
              <a:rPr lang="en-US" sz="1200" b="1" dirty="0"/>
              <a:t>Visualization Tools:</a:t>
            </a:r>
            <a:r>
              <a:rPr lang="en-US" sz="1200" dirty="0"/>
              <a:t> Python libraries including </a:t>
            </a:r>
            <a:r>
              <a:rPr lang="en-US" sz="1200" b="1" dirty="0"/>
              <a:t>pandas</a:t>
            </a:r>
            <a:r>
              <a:rPr lang="en-US" sz="1200" dirty="0"/>
              <a:t>, </a:t>
            </a:r>
            <a:r>
              <a:rPr lang="en-US" sz="1200" b="1" dirty="0"/>
              <a:t>matplotlib</a:t>
            </a:r>
            <a:r>
              <a:rPr lang="en-US" sz="1200" dirty="0"/>
              <a:t>, and </a:t>
            </a:r>
            <a:r>
              <a:rPr lang="en-US" sz="1200" b="1" dirty="0"/>
              <a:t>seaborn</a:t>
            </a:r>
            <a:r>
              <a:rPr lang="en-US" sz="1200" dirty="0"/>
              <a:t> are used to create clear, interactive charts for better understanding.</a:t>
            </a:r>
          </a:p>
          <a:p>
            <a:r>
              <a:rPr lang="en-US" sz="1200" b="1" dirty="0"/>
              <a:t>Expected Outcomes</a:t>
            </a:r>
          </a:p>
          <a:p>
            <a:r>
              <a:rPr lang="en-US" sz="1200" dirty="0"/>
              <a:t>A clear picture of which neighborhoods command higher prices and which property types dominate the market.</a:t>
            </a:r>
          </a:p>
          <a:p>
            <a:r>
              <a:rPr lang="en-US" sz="1200" dirty="0"/>
              <a:t>Insight into host behavior, including the effect of verified identities on review scores.</a:t>
            </a:r>
          </a:p>
          <a:p>
            <a:r>
              <a:rPr lang="en-US" sz="1200" dirty="0"/>
              <a:t>Correlation metrics showing how price aligns with service fees and construction year.</a:t>
            </a:r>
          </a:p>
          <a:p>
            <a:endParaRPr lang="en-IN" sz="12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20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a:extLst>
              <a:ext uri="{FF2B5EF4-FFF2-40B4-BE49-F238E27FC236}">
                <a16:creationId xmlns:a16="http://schemas.microsoft.com/office/drawing/2014/main" id="{30118946-4B86-1E9A-62D5-AAFE57D05C29}"/>
              </a:ext>
            </a:extLst>
          </p:cNvPr>
          <p:cNvSpPr txBox="1"/>
          <p:nvPr/>
        </p:nvSpPr>
        <p:spPr>
          <a:xfrm>
            <a:off x="721359" y="2369127"/>
            <a:ext cx="7095506" cy="2031325"/>
          </a:xfrm>
          <a:prstGeom prst="rect">
            <a:avLst/>
          </a:prstGeom>
          <a:noFill/>
        </p:spPr>
        <p:txBody>
          <a:bodyPr wrap="square" rtlCol="0">
            <a:spAutoFit/>
          </a:bodyPr>
          <a:lstStyle/>
          <a:p>
            <a:r>
              <a:rPr lang="en-US" b="1" dirty="0"/>
              <a:t>Hosts/Owners:</a:t>
            </a:r>
            <a:r>
              <a:rPr lang="en-US" dirty="0"/>
              <a:t> Set competitive prices and improve listings.</a:t>
            </a:r>
          </a:p>
          <a:p>
            <a:r>
              <a:rPr lang="en-US" b="1" dirty="0"/>
              <a:t>Guests/Travelers:</a:t>
            </a:r>
            <a:r>
              <a:rPr lang="en-US" dirty="0"/>
              <a:t> Find the best areas and value for money.</a:t>
            </a:r>
          </a:p>
          <a:p>
            <a:r>
              <a:rPr lang="en-US" b="1" dirty="0"/>
              <a:t>Airbnb Management:</a:t>
            </a:r>
            <a:r>
              <a:rPr lang="en-US" dirty="0"/>
              <a:t> Enhance platform features and fee policies.</a:t>
            </a:r>
          </a:p>
          <a:p>
            <a:r>
              <a:rPr lang="en-US" b="1" dirty="0"/>
              <a:t>Investors/Developers:</a:t>
            </a:r>
            <a:r>
              <a:rPr lang="en-US" dirty="0"/>
              <a:t> Identify high-demand neighborhoods.</a:t>
            </a:r>
          </a:p>
          <a:p>
            <a:r>
              <a:rPr lang="en-US" b="1" dirty="0"/>
              <a:t>City Planners/Government:</a:t>
            </a:r>
            <a:r>
              <a:rPr lang="en-US" dirty="0"/>
              <a:t> Guide housing and tourism policies.</a:t>
            </a:r>
          </a:p>
          <a:p>
            <a:r>
              <a:rPr lang="en-US" b="1" dirty="0"/>
              <a:t>Researchers/Analysts:</a:t>
            </a:r>
            <a:r>
              <a:rPr lang="en-US" dirty="0"/>
              <a:t> Study market trends and predict demand.</a:t>
            </a:r>
          </a:p>
          <a:p>
            <a:endParaRPr lang="en-IN"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4726" y="1432560"/>
            <a:ext cx="7963593" cy="3281944"/>
          </a:xfrm>
        </p:spPr>
        <p:txBody>
          <a:bodyPr/>
          <a:lstStyle/>
          <a:p>
            <a:r>
              <a:rPr lang="en-IN" b="1" dirty="0"/>
              <a:t>Programming Language:</a:t>
            </a:r>
            <a:r>
              <a:rPr lang="en-IN" dirty="0"/>
              <a:t> Python</a:t>
            </a:r>
          </a:p>
          <a:p>
            <a:r>
              <a:rPr lang="en-IN" b="1" dirty="0"/>
              <a:t>Libraries:</a:t>
            </a:r>
            <a:r>
              <a:rPr lang="en-IN" dirty="0"/>
              <a:t> pandas, </a:t>
            </a:r>
            <a:r>
              <a:rPr lang="en-IN" dirty="0" err="1"/>
              <a:t>numpy</a:t>
            </a:r>
            <a:r>
              <a:rPr lang="en-IN" dirty="0"/>
              <a:t>, matplotlib, seaborn (data cleaning, analysis, and visualization)</a:t>
            </a:r>
          </a:p>
          <a:p>
            <a:r>
              <a:rPr lang="en-IN" b="1" dirty="0"/>
              <a:t>Data Storage:</a:t>
            </a:r>
            <a:r>
              <a:rPr lang="en-IN" dirty="0"/>
              <a:t> Excel/CSV dataset</a:t>
            </a:r>
          </a:p>
          <a:p>
            <a:r>
              <a:rPr lang="en-IN" b="1" dirty="0"/>
              <a:t>Environment/Tools:</a:t>
            </a:r>
            <a:r>
              <a:rPr lang="en-IN" dirty="0"/>
              <a:t> </a:t>
            </a:r>
            <a:r>
              <a:rPr lang="en-IN" dirty="0" err="1"/>
              <a:t>Jupyter</a:t>
            </a:r>
            <a:r>
              <a:rPr lang="en-IN" dirty="0"/>
              <a:t> Notebook or Google </a:t>
            </a:r>
            <a:r>
              <a:rPr lang="en-IN" dirty="0" err="1"/>
              <a:t>Colab</a:t>
            </a:r>
            <a:r>
              <a:rPr lang="en-IN" dirty="0"/>
              <a:t> for development and reporting</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pic>
        <p:nvPicPr>
          <p:cNvPr id="3" name="Picture 2">
            <a:extLst>
              <a:ext uri="{FF2B5EF4-FFF2-40B4-BE49-F238E27FC236}">
                <a16:creationId xmlns:a16="http://schemas.microsoft.com/office/drawing/2014/main" id="{6CCB0B84-18F6-9F5D-A4E2-AB21890DCA88}"/>
              </a:ext>
            </a:extLst>
          </p:cNvPr>
          <p:cNvPicPr>
            <a:picLocks noChangeAspect="1"/>
          </p:cNvPicPr>
          <p:nvPr/>
        </p:nvPicPr>
        <p:blipFill>
          <a:blip r:embed="rId3"/>
          <a:stretch>
            <a:fillRect/>
          </a:stretch>
        </p:blipFill>
        <p:spPr>
          <a:xfrm>
            <a:off x="675957" y="1201586"/>
            <a:ext cx="10320965" cy="537938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4F0609D-325A-6CFC-7512-0C94EDABEB7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91963C39-9433-02BA-5A2B-62380BFD21C5}"/>
              </a:ext>
            </a:extLst>
          </p:cNvPr>
          <p:cNvSpPr>
            <a:spLocks noGrp="1"/>
          </p:cNvSpPr>
          <p:nvPr>
            <p:ph type="body" sz="quarter" idx="12"/>
          </p:nvPr>
        </p:nvSpPr>
        <p:spPr>
          <a:xfrm>
            <a:off x="807164" y="1431693"/>
            <a:ext cx="4275138" cy="477520"/>
          </a:xfrm>
        </p:spPr>
        <p:txBody>
          <a:bodyPr>
            <a:normAutofit/>
          </a:bodyPr>
          <a:lstStyle/>
          <a:p>
            <a:pPr marL="0" indent="0">
              <a:buNone/>
            </a:pPr>
            <a:endParaRPr lang="en-IN" dirty="0"/>
          </a:p>
        </p:txBody>
      </p:sp>
      <p:pic>
        <p:nvPicPr>
          <p:cNvPr id="3" name="Picture 2">
            <a:extLst>
              <a:ext uri="{FF2B5EF4-FFF2-40B4-BE49-F238E27FC236}">
                <a16:creationId xmlns:a16="http://schemas.microsoft.com/office/drawing/2014/main" id="{473B21E0-C678-D8D4-AA82-5B0B99A40761}"/>
              </a:ext>
            </a:extLst>
          </p:cNvPr>
          <p:cNvPicPr>
            <a:picLocks noChangeAspect="1"/>
          </p:cNvPicPr>
          <p:nvPr/>
        </p:nvPicPr>
        <p:blipFill>
          <a:blip r:embed="rId3"/>
          <a:stretch>
            <a:fillRect/>
          </a:stretch>
        </p:blipFill>
        <p:spPr>
          <a:xfrm>
            <a:off x="491518" y="1384897"/>
            <a:ext cx="9372918" cy="4909098"/>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C3286AD-B268-E75A-C390-BA89A4EE730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F6B14C4F-1746-A8AB-D262-5A993160F568}"/>
              </a:ext>
            </a:extLst>
          </p:cNvPr>
          <p:cNvSpPr>
            <a:spLocks noGrp="1"/>
          </p:cNvSpPr>
          <p:nvPr>
            <p:ph type="body" sz="quarter" idx="12"/>
          </p:nvPr>
        </p:nvSpPr>
        <p:spPr>
          <a:xfrm>
            <a:off x="807164" y="1431693"/>
            <a:ext cx="4275138" cy="477520"/>
          </a:xfrm>
        </p:spPr>
        <p:txBody>
          <a:bodyPr>
            <a:normAutofit/>
          </a:bodyPr>
          <a:lstStyle/>
          <a:p>
            <a:pPr marL="0" indent="0">
              <a:buNone/>
            </a:pPr>
            <a:endParaRPr lang="en-IN" dirty="0"/>
          </a:p>
        </p:txBody>
      </p:sp>
      <p:pic>
        <p:nvPicPr>
          <p:cNvPr id="3" name="Picture 2">
            <a:extLst>
              <a:ext uri="{FF2B5EF4-FFF2-40B4-BE49-F238E27FC236}">
                <a16:creationId xmlns:a16="http://schemas.microsoft.com/office/drawing/2014/main" id="{FEDE69C6-A216-AC99-C4B3-2CEA43232CBD}"/>
              </a:ext>
            </a:extLst>
          </p:cNvPr>
          <p:cNvPicPr>
            <a:picLocks noChangeAspect="1"/>
          </p:cNvPicPr>
          <p:nvPr/>
        </p:nvPicPr>
        <p:blipFill>
          <a:blip r:embed="rId3"/>
          <a:stretch>
            <a:fillRect/>
          </a:stretch>
        </p:blipFill>
        <p:spPr>
          <a:xfrm>
            <a:off x="675957" y="1201585"/>
            <a:ext cx="11039051" cy="5324871"/>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A047F3-5C15-FB0B-7CC1-35BEA5739B93}"/>
              </a:ext>
            </a:extLst>
          </p:cNvPr>
          <p:cNvSpPr>
            <a:spLocks noGrp="1"/>
          </p:cNvSpPr>
          <p:nvPr>
            <p:ph type="body" sz="quarter" idx="12"/>
          </p:nvPr>
        </p:nvSpPr>
        <p:spPr/>
        <p:txBody>
          <a:bodyPr/>
          <a:lstStyle/>
          <a:p>
            <a:endParaRPr lang="en-IN" dirty="0"/>
          </a:p>
        </p:txBody>
      </p:sp>
      <p:sp>
        <p:nvSpPr>
          <p:cNvPr id="3" name="Picture Placeholder 2">
            <a:extLst>
              <a:ext uri="{FF2B5EF4-FFF2-40B4-BE49-F238E27FC236}">
                <a16:creationId xmlns:a16="http://schemas.microsoft.com/office/drawing/2014/main" id="{C900F90C-7663-0AB1-B49E-29084DD77D48}"/>
              </a:ext>
            </a:extLst>
          </p:cNvPr>
          <p:cNvSpPr>
            <a:spLocks noGrp="1"/>
          </p:cNvSpPr>
          <p:nvPr>
            <p:ph type="pic" sz="quarter" idx="13"/>
          </p:nvPr>
        </p:nvSpPr>
        <p:spPr/>
      </p:sp>
      <p:sp>
        <p:nvSpPr>
          <p:cNvPr id="4" name="Title 3">
            <a:extLst>
              <a:ext uri="{FF2B5EF4-FFF2-40B4-BE49-F238E27FC236}">
                <a16:creationId xmlns:a16="http://schemas.microsoft.com/office/drawing/2014/main" id="{DE964B5C-3E4D-1770-529E-504DA79BE69A}"/>
              </a:ext>
            </a:extLst>
          </p:cNvPr>
          <p:cNvSpPr>
            <a:spLocks noGrp="1"/>
          </p:cNvSpPr>
          <p:nvPr>
            <p:ph type="title"/>
          </p:nvPr>
        </p:nvSpPr>
        <p:spPr>
          <a:xfrm>
            <a:off x="397824" y="246826"/>
            <a:ext cx="4275138" cy="830997"/>
          </a:xfrm>
        </p:spPr>
        <p:txBody>
          <a:bodyPr/>
          <a:lstStyle/>
          <a:p>
            <a:r>
              <a:rPr lang="en-GB" dirty="0"/>
              <a:t>RESULTS 4</a:t>
            </a:r>
            <a:endParaRPr lang="en-IN" dirty="0"/>
          </a:p>
        </p:txBody>
      </p:sp>
      <p:pic>
        <p:nvPicPr>
          <p:cNvPr id="8" name="Picture 7">
            <a:extLst>
              <a:ext uri="{FF2B5EF4-FFF2-40B4-BE49-F238E27FC236}">
                <a16:creationId xmlns:a16="http://schemas.microsoft.com/office/drawing/2014/main" id="{99624C65-1F10-FCF5-66E5-39A4AE0F92FB}"/>
              </a:ext>
            </a:extLst>
          </p:cNvPr>
          <p:cNvPicPr>
            <a:picLocks noChangeAspect="1"/>
          </p:cNvPicPr>
          <p:nvPr/>
        </p:nvPicPr>
        <p:blipFill>
          <a:blip r:embed="rId2"/>
          <a:stretch>
            <a:fillRect/>
          </a:stretch>
        </p:blipFill>
        <p:spPr>
          <a:xfrm>
            <a:off x="480952" y="1252537"/>
            <a:ext cx="10569176" cy="5480772"/>
          </a:xfrm>
          <a:prstGeom prst="rect">
            <a:avLst/>
          </a:prstGeom>
        </p:spPr>
      </p:pic>
    </p:spTree>
    <p:extLst>
      <p:ext uri="{BB962C8B-B14F-4D97-AF65-F5344CB8AC3E}">
        <p14:creationId xmlns:p14="http://schemas.microsoft.com/office/powerpoint/2010/main" val="4050959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F623E9-D34D-435A-4315-24E9E4A0C934}"/>
              </a:ext>
            </a:extLst>
          </p:cNvPr>
          <p:cNvSpPr>
            <a:spLocks noGrp="1"/>
          </p:cNvSpPr>
          <p:nvPr>
            <p:ph type="body" sz="quarter" idx="12"/>
          </p:nvPr>
        </p:nvSpPr>
        <p:spPr/>
        <p:txBody>
          <a:bodyPr/>
          <a:lstStyle/>
          <a:p>
            <a:endParaRPr lang="en-IN"/>
          </a:p>
        </p:txBody>
      </p:sp>
      <p:sp>
        <p:nvSpPr>
          <p:cNvPr id="3" name="Picture Placeholder 2">
            <a:extLst>
              <a:ext uri="{FF2B5EF4-FFF2-40B4-BE49-F238E27FC236}">
                <a16:creationId xmlns:a16="http://schemas.microsoft.com/office/drawing/2014/main" id="{CB21E28B-B809-BD6B-1823-0F17CD59F012}"/>
              </a:ext>
            </a:extLst>
          </p:cNvPr>
          <p:cNvSpPr>
            <a:spLocks noGrp="1"/>
          </p:cNvSpPr>
          <p:nvPr>
            <p:ph type="pic" sz="quarter" idx="13"/>
          </p:nvPr>
        </p:nvSpPr>
        <p:spPr/>
      </p:sp>
      <p:sp>
        <p:nvSpPr>
          <p:cNvPr id="4" name="Title 3">
            <a:extLst>
              <a:ext uri="{FF2B5EF4-FFF2-40B4-BE49-F238E27FC236}">
                <a16:creationId xmlns:a16="http://schemas.microsoft.com/office/drawing/2014/main" id="{2C4A0F2E-1761-ACA2-8B22-4FECF9815207}"/>
              </a:ext>
            </a:extLst>
          </p:cNvPr>
          <p:cNvSpPr>
            <a:spLocks noGrp="1"/>
          </p:cNvSpPr>
          <p:nvPr>
            <p:ph type="title"/>
          </p:nvPr>
        </p:nvSpPr>
        <p:spPr>
          <a:xfrm>
            <a:off x="195943" y="148443"/>
            <a:ext cx="4739595" cy="914399"/>
          </a:xfrm>
        </p:spPr>
        <p:txBody>
          <a:bodyPr/>
          <a:lstStyle/>
          <a:p>
            <a:r>
              <a:rPr lang="en-GB" dirty="0"/>
              <a:t>RESULTS 5</a:t>
            </a:r>
            <a:endParaRPr lang="en-IN" dirty="0"/>
          </a:p>
        </p:txBody>
      </p:sp>
      <p:pic>
        <p:nvPicPr>
          <p:cNvPr id="6" name="Picture 5">
            <a:extLst>
              <a:ext uri="{FF2B5EF4-FFF2-40B4-BE49-F238E27FC236}">
                <a16:creationId xmlns:a16="http://schemas.microsoft.com/office/drawing/2014/main" id="{55266214-1733-1755-DE71-0A84A97C6AD2}"/>
              </a:ext>
            </a:extLst>
          </p:cNvPr>
          <p:cNvPicPr>
            <a:picLocks noChangeAspect="1"/>
          </p:cNvPicPr>
          <p:nvPr/>
        </p:nvPicPr>
        <p:blipFill>
          <a:blip r:embed="rId2"/>
          <a:stretch>
            <a:fillRect/>
          </a:stretch>
        </p:blipFill>
        <p:spPr>
          <a:xfrm>
            <a:off x="437283" y="1062842"/>
            <a:ext cx="10727500" cy="5646715"/>
          </a:xfrm>
          <a:prstGeom prst="rect">
            <a:avLst/>
          </a:prstGeom>
        </p:spPr>
      </p:pic>
    </p:spTree>
    <p:extLst>
      <p:ext uri="{BB962C8B-B14F-4D97-AF65-F5344CB8AC3E}">
        <p14:creationId xmlns:p14="http://schemas.microsoft.com/office/powerpoint/2010/main" val="4116125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C5AD59-546D-824D-6701-C0322E42932C}"/>
              </a:ext>
            </a:extLst>
          </p:cNvPr>
          <p:cNvSpPr>
            <a:spLocks noGrp="1"/>
          </p:cNvSpPr>
          <p:nvPr>
            <p:ph type="body" sz="quarter" idx="12"/>
          </p:nvPr>
        </p:nvSpPr>
        <p:spPr/>
        <p:txBody>
          <a:bodyPr/>
          <a:lstStyle/>
          <a:p>
            <a:endParaRPr lang="en-IN"/>
          </a:p>
        </p:txBody>
      </p:sp>
      <p:sp>
        <p:nvSpPr>
          <p:cNvPr id="3" name="Picture Placeholder 2">
            <a:extLst>
              <a:ext uri="{FF2B5EF4-FFF2-40B4-BE49-F238E27FC236}">
                <a16:creationId xmlns:a16="http://schemas.microsoft.com/office/drawing/2014/main" id="{C1449AFD-1E5D-F712-165F-7009F2FB47A3}"/>
              </a:ext>
            </a:extLst>
          </p:cNvPr>
          <p:cNvSpPr>
            <a:spLocks noGrp="1"/>
          </p:cNvSpPr>
          <p:nvPr>
            <p:ph type="pic" sz="quarter" idx="13"/>
          </p:nvPr>
        </p:nvSpPr>
        <p:spPr/>
      </p:sp>
      <p:sp>
        <p:nvSpPr>
          <p:cNvPr id="4" name="Title 3">
            <a:extLst>
              <a:ext uri="{FF2B5EF4-FFF2-40B4-BE49-F238E27FC236}">
                <a16:creationId xmlns:a16="http://schemas.microsoft.com/office/drawing/2014/main" id="{141579E6-A0F6-59DB-0A26-9D685D9D82ED}"/>
              </a:ext>
            </a:extLst>
          </p:cNvPr>
          <p:cNvSpPr>
            <a:spLocks noGrp="1"/>
          </p:cNvSpPr>
          <p:nvPr>
            <p:ph type="title"/>
          </p:nvPr>
        </p:nvSpPr>
        <p:spPr>
          <a:xfrm>
            <a:off x="203200" y="58795"/>
            <a:ext cx="4275138" cy="830997"/>
          </a:xfrm>
        </p:spPr>
        <p:txBody>
          <a:bodyPr/>
          <a:lstStyle/>
          <a:p>
            <a:r>
              <a:rPr lang="en-GB" dirty="0"/>
              <a:t>RESULTS 6</a:t>
            </a:r>
            <a:endParaRPr lang="en-IN" dirty="0"/>
          </a:p>
        </p:txBody>
      </p:sp>
      <p:pic>
        <p:nvPicPr>
          <p:cNvPr id="6" name="Picture 5">
            <a:extLst>
              <a:ext uri="{FF2B5EF4-FFF2-40B4-BE49-F238E27FC236}">
                <a16:creationId xmlns:a16="http://schemas.microsoft.com/office/drawing/2014/main" id="{0C5EE934-1341-D07E-02A0-5622FB4DCFDF}"/>
              </a:ext>
            </a:extLst>
          </p:cNvPr>
          <p:cNvPicPr>
            <a:picLocks noChangeAspect="1"/>
          </p:cNvPicPr>
          <p:nvPr/>
        </p:nvPicPr>
        <p:blipFill>
          <a:blip r:embed="rId2"/>
          <a:stretch>
            <a:fillRect/>
          </a:stretch>
        </p:blipFill>
        <p:spPr>
          <a:xfrm>
            <a:off x="521343" y="1016089"/>
            <a:ext cx="10694901" cy="5770058"/>
          </a:xfrm>
          <a:prstGeom prst="rect">
            <a:avLst/>
          </a:prstGeom>
        </p:spPr>
      </p:pic>
    </p:spTree>
    <p:extLst>
      <p:ext uri="{BB962C8B-B14F-4D97-AF65-F5344CB8AC3E}">
        <p14:creationId xmlns:p14="http://schemas.microsoft.com/office/powerpoint/2010/main" val="3919037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3E0897-00C8-EC64-9737-0B7B3707AC01}"/>
              </a:ext>
            </a:extLst>
          </p:cNvPr>
          <p:cNvSpPr>
            <a:spLocks noGrp="1"/>
          </p:cNvSpPr>
          <p:nvPr>
            <p:ph type="body" sz="quarter" idx="12"/>
          </p:nvPr>
        </p:nvSpPr>
        <p:spPr/>
        <p:txBody>
          <a:bodyPr/>
          <a:lstStyle/>
          <a:p>
            <a:endParaRPr lang="en-IN"/>
          </a:p>
        </p:txBody>
      </p:sp>
      <p:sp>
        <p:nvSpPr>
          <p:cNvPr id="3" name="Picture Placeholder 2">
            <a:extLst>
              <a:ext uri="{FF2B5EF4-FFF2-40B4-BE49-F238E27FC236}">
                <a16:creationId xmlns:a16="http://schemas.microsoft.com/office/drawing/2014/main" id="{2E1D104F-228E-8FD1-B019-AEF8B61E6D61}"/>
              </a:ext>
            </a:extLst>
          </p:cNvPr>
          <p:cNvSpPr>
            <a:spLocks noGrp="1"/>
          </p:cNvSpPr>
          <p:nvPr>
            <p:ph type="pic" sz="quarter" idx="13"/>
          </p:nvPr>
        </p:nvSpPr>
        <p:spPr/>
      </p:sp>
      <p:sp>
        <p:nvSpPr>
          <p:cNvPr id="4" name="Title 3">
            <a:extLst>
              <a:ext uri="{FF2B5EF4-FFF2-40B4-BE49-F238E27FC236}">
                <a16:creationId xmlns:a16="http://schemas.microsoft.com/office/drawing/2014/main" id="{F15C77D3-8F72-6BB0-7622-208A184045EC}"/>
              </a:ext>
            </a:extLst>
          </p:cNvPr>
          <p:cNvSpPr>
            <a:spLocks noGrp="1"/>
          </p:cNvSpPr>
          <p:nvPr>
            <p:ph type="title"/>
          </p:nvPr>
        </p:nvSpPr>
        <p:spPr>
          <a:xfrm>
            <a:off x="143823" y="110507"/>
            <a:ext cx="4275138" cy="830997"/>
          </a:xfrm>
        </p:spPr>
        <p:txBody>
          <a:bodyPr/>
          <a:lstStyle/>
          <a:p>
            <a:r>
              <a:rPr lang="en-GB" dirty="0"/>
              <a:t>RESULTS 7</a:t>
            </a:r>
            <a:endParaRPr lang="en-IN" dirty="0"/>
          </a:p>
        </p:txBody>
      </p:sp>
      <p:pic>
        <p:nvPicPr>
          <p:cNvPr id="6" name="Picture 5">
            <a:extLst>
              <a:ext uri="{FF2B5EF4-FFF2-40B4-BE49-F238E27FC236}">
                <a16:creationId xmlns:a16="http://schemas.microsoft.com/office/drawing/2014/main" id="{BB17A084-CD25-8CB0-B01F-FADD476C89C0}"/>
              </a:ext>
            </a:extLst>
          </p:cNvPr>
          <p:cNvPicPr>
            <a:picLocks noChangeAspect="1"/>
          </p:cNvPicPr>
          <p:nvPr/>
        </p:nvPicPr>
        <p:blipFill>
          <a:blip r:embed="rId2"/>
          <a:stretch>
            <a:fillRect/>
          </a:stretch>
        </p:blipFill>
        <p:spPr>
          <a:xfrm>
            <a:off x="296882" y="941504"/>
            <a:ext cx="11354790" cy="5810772"/>
          </a:xfrm>
          <a:prstGeom prst="rect">
            <a:avLst/>
          </a:prstGeom>
        </p:spPr>
      </p:pic>
    </p:spTree>
    <p:extLst>
      <p:ext uri="{BB962C8B-B14F-4D97-AF65-F5344CB8AC3E}">
        <p14:creationId xmlns:p14="http://schemas.microsoft.com/office/powerpoint/2010/main" val="2799480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EDD87E-EAA8-3266-F76E-47D7D12EF6EF}"/>
              </a:ext>
            </a:extLst>
          </p:cNvPr>
          <p:cNvSpPr>
            <a:spLocks noGrp="1"/>
          </p:cNvSpPr>
          <p:nvPr>
            <p:ph type="title"/>
          </p:nvPr>
        </p:nvSpPr>
        <p:spPr/>
        <p:txBody>
          <a:bodyPr/>
          <a:lstStyle/>
          <a:p>
            <a:r>
              <a:rPr lang="en-US" dirty="0"/>
              <a:t>VIDEO LINK</a:t>
            </a:r>
            <a:endParaRPr lang="en-IN"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137EFFD2-F9E8-CA5C-4542-7C62679FFFFD}"/>
                  </a:ext>
                </a:extLst>
              </p14:cNvPr>
              <p14:cNvContentPartPr/>
              <p14:nvPr/>
            </p14:nvContentPartPr>
            <p14:xfrm>
              <a:off x="854687" y="6560719"/>
              <a:ext cx="360" cy="360"/>
            </p14:xfrm>
          </p:contentPart>
        </mc:Choice>
        <mc:Fallback>
          <p:pic>
            <p:nvPicPr>
              <p:cNvPr id="5" name="Ink 4">
                <a:extLst>
                  <a:ext uri="{FF2B5EF4-FFF2-40B4-BE49-F238E27FC236}">
                    <a16:creationId xmlns:a16="http://schemas.microsoft.com/office/drawing/2014/main" id="{137EFFD2-F9E8-CA5C-4542-7C62679FFFFD}"/>
                  </a:ext>
                </a:extLst>
              </p:cNvPr>
              <p:cNvPicPr/>
              <p:nvPr/>
            </p:nvPicPr>
            <p:blipFill>
              <a:blip r:embed="rId3"/>
              <a:stretch>
                <a:fillRect/>
              </a:stretch>
            </p:blipFill>
            <p:spPr>
              <a:xfrm>
                <a:off x="792047" y="6498079"/>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D6A1FD4D-FB7A-5A24-51CB-2F3A06BD4166}"/>
                  </a:ext>
                </a:extLst>
              </p14:cNvPr>
              <p14:cNvContentPartPr/>
              <p14:nvPr/>
            </p14:nvContentPartPr>
            <p14:xfrm>
              <a:off x="758927" y="6535879"/>
              <a:ext cx="1743480" cy="120960"/>
            </p14:xfrm>
          </p:contentPart>
        </mc:Choice>
        <mc:Fallback>
          <p:pic>
            <p:nvPicPr>
              <p:cNvPr id="6" name="Ink 5">
                <a:extLst>
                  <a:ext uri="{FF2B5EF4-FFF2-40B4-BE49-F238E27FC236}">
                    <a16:creationId xmlns:a16="http://schemas.microsoft.com/office/drawing/2014/main" id="{D6A1FD4D-FB7A-5A24-51CB-2F3A06BD4166}"/>
                  </a:ext>
                </a:extLst>
              </p:cNvPr>
              <p:cNvPicPr/>
              <p:nvPr/>
            </p:nvPicPr>
            <p:blipFill>
              <a:blip r:embed="rId5"/>
              <a:stretch>
                <a:fillRect/>
              </a:stretch>
            </p:blipFill>
            <p:spPr>
              <a:xfrm>
                <a:off x="695927" y="6473239"/>
                <a:ext cx="1869120" cy="246600"/>
              </a:xfrm>
              <a:prstGeom prst="rect">
                <a:avLst/>
              </a:prstGeom>
            </p:spPr>
          </p:pic>
        </mc:Fallback>
      </mc:AlternateContent>
      <p:sp>
        <p:nvSpPr>
          <p:cNvPr id="7" name="TextBox 6">
            <a:extLst>
              <a:ext uri="{FF2B5EF4-FFF2-40B4-BE49-F238E27FC236}">
                <a16:creationId xmlns:a16="http://schemas.microsoft.com/office/drawing/2014/main" id="{66640DB5-4CBC-0B6F-AA07-5653FE0DE58D}"/>
              </a:ext>
            </a:extLst>
          </p:cNvPr>
          <p:cNvSpPr txBox="1"/>
          <p:nvPr/>
        </p:nvSpPr>
        <p:spPr>
          <a:xfrm>
            <a:off x="1110343" y="2523506"/>
            <a:ext cx="7493330" cy="923330"/>
          </a:xfrm>
          <a:prstGeom prst="rect">
            <a:avLst/>
          </a:prstGeom>
          <a:noFill/>
        </p:spPr>
        <p:txBody>
          <a:bodyPr wrap="square" rtlCol="0">
            <a:spAutoFit/>
          </a:bodyPr>
          <a:lstStyle/>
          <a:p>
            <a:r>
              <a:rPr lang="en-IN" dirty="0">
                <a:hlinkClick r:id="rId6"/>
              </a:rPr>
              <a:t>https://drive.google.com/file/d/1qLf6Vwb-UIyls3djKOF-A17cfKNKFqEe/view?usp=drive_link</a:t>
            </a:r>
            <a:endParaRPr lang="en-IN" dirty="0"/>
          </a:p>
          <a:p>
            <a:endParaRPr lang="en-IN" dirty="0"/>
          </a:p>
        </p:txBody>
      </p:sp>
    </p:spTree>
    <p:extLst>
      <p:ext uri="{BB962C8B-B14F-4D97-AF65-F5344CB8AC3E}">
        <p14:creationId xmlns:p14="http://schemas.microsoft.com/office/powerpoint/2010/main" val="1592391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1431693"/>
            <a:ext cx="5920207" cy="2553970"/>
          </a:xfrm>
        </p:spPr>
        <p:txBody>
          <a:bodyPr vert="horz" lIns="91440" tIns="45720" rIns="91440" bIns="45720" rtlCol="0" anchor="t">
            <a:normAutofit/>
          </a:bodyPr>
          <a:lstStyle/>
          <a:p>
            <a:pPr marL="0" indent="0">
              <a:buNone/>
            </a:pPr>
            <a:r>
              <a:rPr lang="en-US" dirty="0">
                <a:hlinkClick r:id="rId3"/>
              </a:rPr>
              <a:t>https://github.com/sheetal-092/VOIS_AICTE_Oct2025_GULLAPALLI-SHEETAL</a:t>
            </a:r>
            <a:endParaRPr lang="en-US" dirty="0"/>
          </a:p>
          <a:p>
            <a:pPr marL="0" indent="0">
              <a:buNone/>
            </a:pPr>
            <a:endParaRPr lang="en-US" dirty="0"/>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1E527B5-4CA2-1046-820A-6A5F3AD5051F}"/>
              </a:ext>
            </a:extLst>
          </p:cNvPr>
          <p:cNvPicPr>
            <a:picLocks noChangeAspect="1"/>
          </p:cNvPicPr>
          <p:nvPr/>
        </p:nvPicPr>
        <p:blipFill>
          <a:blip r:embed="rId3"/>
          <a:stretch>
            <a:fillRect/>
          </a:stretch>
        </p:blipFill>
        <p:spPr>
          <a:xfrm>
            <a:off x="1747519" y="1185825"/>
            <a:ext cx="7991668" cy="5612797"/>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8FD3C59-93B3-2293-2B10-BD981629766D}"/>
              </a:ext>
            </a:extLst>
          </p:cNvPr>
          <p:cNvPicPr>
            <a:picLocks noChangeAspect="1"/>
          </p:cNvPicPr>
          <p:nvPr/>
        </p:nvPicPr>
        <p:blipFill>
          <a:blip r:embed="rId3"/>
          <a:stretch>
            <a:fillRect/>
          </a:stretch>
        </p:blipFill>
        <p:spPr>
          <a:xfrm>
            <a:off x="820373" y="1275370"/>
            <a:ext cx="7707086" cy="5450341"/>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59808" y="3149741"/>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569</TotalTime>
  <Words>722</Words>
  <Application>Microsoft Office PowerPoint</Application>
  <PresentationFormat>Widescreen</PresentationFormat>
  <Paragraphs>52</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 Airbnb Hotel Booking Analysis</vt:lpstr>
      <vt:lpstr>PROBLEM  STATEMENT Airbnb Hotel Booking Analysis      </vt:lpstr>
      <vt:lpstr>Project Description  </vt:lpstr>
      <vt:lpstr>WHO ARE THE END USERS?</vt:lpstr>
      <vt:lpstr>Technology Used</vt:lpstr>
      <vt:lpstr>RESULTS1 </vt:lpstr>
      <vt:lpstr>RESULTS2</vt:lpstr>
      <vt:lpstr>RESULTS3 </vt:lpstr>
      <vt:lpstr>RESULTS 4</vt:lpstr>
      <vt:lpstr>RESULTS 5</vt:lpstr>
      <vt:lpstr>RESULTS 6</vt:lpstr>
      <vt:lpstr>RESULTS 7</vt:lpstr>
      <vt:lpstr>VIDEO LINK</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Gullapalli Sheetal</cp:lastModifiedBy>
  <cp:revision>106</cp:revision>
  <dcterms:created xsi:type="dcterms:W3CDTF">2021-07-11T13:13:15Z</dcterms:created>
  <dcterms:modified xsi:type="dcterms:W3CDTF">2025-09-27T04:13:51Z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